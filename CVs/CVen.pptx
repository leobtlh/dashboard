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svg" ContentType="image/svg"/>
  <Override PartName="/ppt/media/image6.png" ContentType="image/png"/>
  <Override PartName="/ppt/media/image4.png" ContentType="image/png"/>
  <Override PartName="/ppt/media/image5.svg" ContentType="image/svg"/>
  <Override PartName="/ppt/media/image7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6500" cy="10693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CH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CH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CH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1F16C7-766D-4B32-A9E6-CA8D11C800B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CH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CH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CH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6EC4FA-7DA0-4ABE-95B1-ADF529D9166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CH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D733A3-AD42-4C40-AC2F-91395A3D4DF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CH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CH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CH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C64494-8423-4372-995A-0C5A8660064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CH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CH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CH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CH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CH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178F19-3A96-4887-8C40-E80EF3DE389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CH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98E09A-0832-425C-8500-367EFF3B25C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D09507-6533-4712-9E69-B0D1AA7D83D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CH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CH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8F5890-9E96-4EAE-85C1-D90CF201C98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CH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CH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CH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CH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CH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CH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CH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18CC04-42B3-4190-AD59-8BA1CCA479C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CH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E9C7A0-E60A-48A0-A4CF-B6DA33C3A2A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CH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CH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CH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CH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CH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CH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CH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6D6342-A750-4385-B960-C19CF7F048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CH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2"/>
          <p:cNvGrpSpPr/>
          <p:nvPr/>
        </p:nvGrpSpPr>
        <p:grpSpPr>
          <a:xfrm>
            <a:off x="407160" y="325800"/>
            <a:ext cx="1289520" cy="1505160"/>
            <a:chOff x="407160" y="325800"/>
            <a:chExt cx="1289520" cy="1505160"/>
          </a:xfrm>
        </p:grpSpPr>
        <p:sp>
          <p:nvSpPr>
            <p:cNvPr id="58" name="Freeform 3"/>
            <p:cNvSpPr/>
            <p:nvPr/>
          </p:nvSpPr>
          <p:spPr>
            <a:xfrm>
              <a:off x="407160" y="325800"/>
              <a:ext cx="1289520" cy="1505160"/>
            </a:xfrm>
            <a:custGeom>
              <a:avLst/>
              <a:gdLst>
                <a:gd name="textAreaLeft" fmla="*/ 0 w 1289520"/>
                <a:gd name="textAreaRight" fmla="*/ 1290960 w 1289520"/>
                <a:gd name="textAreaTop" fmla="*/ 0 h 1505160"/>
                <a:gd name="textAreaBottom" fmla="*/ 1506600 h 1505160"/>
              </a:gdLst>
              <a:ahLst/>
              <a:cxnLst/>
              <a:rect l="textAreaLeft" t="textAreaTop" r="textAreaRight" b="textAreaBottom"/>
              <a:pathLst>
                <a:path w="696466" h="812800">
                  <a:moveTo>
                    <a:pt x="0" y="0"/>
                  </a:moveTo>
                  <a:lnTo>
                    <a:pt x="696466" y="0"/>
                  </a:lnTo>
                  <a:lnTo>
                    <a:pt x="696466" y="812800"/>
                  </a:lnTo>
                  <a:lnTo>
                    <a:pt x="0" y="81280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fr-CH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" name="Freeform 4"/>
          <p:cNvSpPr/>
          <p:nvPr/>
        </p:nvSpPr>
        <p:spPr>
          <a:xfrm>
            <a:off x="5148720" y="631800"/>
            <a:ext cx="164880" cy="98280"/>
          </a:xfrm>
          <a:custGeom>
            <a:avLst/>
            <a:gdLst>
              <a:gd name="textAreaLeft" fmla="*/ 0 w 164880"/>
              <a:gd name="textAreaRight" fmla="*/ 166320 w 164880"/>
              <a:gd name="textAreaTop" fmla="*/ 0 h 98280"/>
              <a:gd name="textAreaBottom" fmla="*/ 99720 h 98280"/>
            </a:gdLst>
            <a:ahLst/>
            <a:cxnLst/>
            <a:rect l="textAreaLeft" t="textAreaTop" r="textAreaRight" b="textAreaBottom"/>
            <a:pathLst>
              <a:path w="166461" h="99876">
                <a:moveTo>
                  <a:pt x="0" y="0"/>
                </a:moveTo>
                <a:lnTo>
                  <a:pt x="166460" y="0"/>
                </a:lnTo>
                <a:lnTo>
                  <a:pt x="166460" y="99876"/>
                </a:lnTo>
                <a:lnTo>
                  <a:pt x="0" y="998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reeform 5"/>
          <p:cNvSpPr/>
          <p:nvPr/>
        </p:nvSpPr>
        <p:spPr>
          <a:xfrm>
            <a:off x="5180400" y="874080"/>
            <a:ext cx="101880" cy="140040"/>
          </a:xfrm>
          <a:custGeom>
            <a:avLst/>
            <a:gdLst>
              <a:gd name="textAreaLeft" fmla="*/ 0 w 101880"/>
              <a:gd name="textAreaRight" fmla="*/ 103320 w 101880"/>
              <a:gd name="textAreaTop" fmla="*/ 0 h 140040"/>
              <a:gd name="textAreaBottom" fmla="*/ 141480 h 140040"/>
            </a:gdLst>
            <a:ahLst/>
            <a:cxnLst/>
            <a:rect l="textAreaLeft" t="textAreaTop" r="textAreaRight" b="textAreaBottom"/>
            <a:pathLst>
              <a:path w="103272" h="141645">
                <a:moveTo>
                  <a:pt x="0" y="0"/>
                </a:moveTo>
                <a:lnTo>
                  <a:pt x="103272" y="0"/>
                </a:lnTo>
                <a:lnTo>
                  <a:pt x="103272" y="141646"/>
                </a:lnTo>
                <a:lnTo>
                  <a:pt x="0" y="1416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Freeform 6"/>
          <p:cNvSpPr/>
          <p:nvPr/>
        </p:nvSpPr>
        <p:spPr>
          <a:xfrm>
            <a:off x="5175360" y="1115640"/>
            <a:ext cx="112320" cy="160920"/>
          </a:xfrm>
          <a:custGeom>
            <a:avLst/>
            <a:gdLst>
              <a:gd name="textAreaLeft" fmla="*/ 0 w 112320"/>
              <a:gd name="textAreaRight" fmla="*/ 113760 w 112320"/>
              <a:gd name="textAreaTop" fmla="*/ 0 h 160920"/>
              <a:gd name="textAreaBottom" fmla="*/ 162360 h 160920"/>
            </a:gdLst>
            <a:ahLst/>
            <a:cxnLst/>
            <a:rect l="textAreaLeft" t="textAreaTop" r="textAreaRight" b="textAreaBottom"/>
            <a:pathLst>
              <a:path w="113663" h="162376">
                <a:moveTo>
                  <a:pt x="0" y="0"/>
                </a:moveTo>
                <a:lnTo>
                  <a:pt x="113664" y="0"/>
                </a:lnTo>
                <a:lnTo>
                  <a:pt x="113664" y="162376"/>
                </a:lnTo>
                <a:lnTo>
                  <a:pt x="0" y="1623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AutoShape 7"/>
          <p:cNvSpPr/>
          <p:nvPr/>
        </p:nvSpPr>
        <p:spPr>
          <a:xfrm>
            <a:off x="407160" y="2006280"/>
            <a:ext cx="6745320" cy="360"/>
          </a:xfrm>
          <a:prstGeom prst="line">
            <a:avLst/>
          </a:prstGeom>
          <a:ln w="9525">
            <a:solidFill>
              <a:srgbClr val="1a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AutoShape 8"/>
          <p:cNvSpPr/>
          <p:nvPr/>
        </p:nvSpPr>
        <p:spPr>
          <a:xfrm>
            <a:off x="407160" y="3550680"/>
            <a:ext cx="2537280" cy="360"/>
          </a:xfrm>
          <a:prstGeom prst="line">
            <a:avLst/>
          </a:prstGeom>
          <a:ln w="9525">
            <a:solidFill>
              <a:srgbClr val="1a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AutoShape 9"/>
          <p:cNvSpPr/>
          <p:nvPr/>
        </p:nvSpPr>
        <p:spPr>
          <a:xfrm>
            <a:off x="3363840" y="3550680"/>
            <a:ext cx="3798360" cy="360"/>
          </a:xfrm>
          <a:prstGeom prst="line">
            <a:avLst/>
          </a:prstGeom>
          <a:ln w="9525">
            <a:solidFill>
              <a:srgbClr val="1a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AutoShape 10"/>
          <p:cNvSpPr/>
          <p:nvPr/>
        </p:nvSpPr>
        <p:spPr>
          <a:xfrm>
            <a:off x="407160" y="9107280"/>
            <a:ext cx="2537280" cy="360"/>
          </a:xfrm>
          <a:prstGeom prst="line">
            <a:avLst/>
          </a:prstGeom>
          <a:ln w="9525">
            <a:solidFill>
              <a:srgbClr val="1a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AutoShape 11"/>
          <p:cNvSpPr/>
          <p:nvPr/>
        </p:nvSpPr>
        <p:spPr>
          <a:xfrm>
            <a:off x="407160" y="6632280"/>
            <a:ext cx="2537280" cy="360"/>
          </a:xfrm>
          <a:prstGeom prst="line">
            <a:avLst/>
          </a:prstGeom>
          <a:ln w="9525">
            <a:solidFill>
              <a:srgbClr val="1a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AutoShape 12"/>
          <p:cNvSpPr/>
          <p:nvPr/>
        </p:nvSpPr>
        <p:spPr>
          <a:xfrm>
            <a:off x="3363840" y="8682840"/>
            <a:ext cx="3798360" cy="360"/>
          </a:xfrm>
          <a:prstGeom prst="line">
            <a:avLst/>
          </a:prstGeom>
          <a:ln w="9525">
            <a:solidFill>
              <a:srgbClr val="1a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CH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3"/>
          <p:cNvSpPr/>
          <p:nvPr/>
        </p:nvSpPr>
        <p:spPr>
          <a:xfrm>
            <a:off x="1942200" y="765360"/>
            <a:ext cx="294336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1"/>
              </a:lnSpc>
              <a:tabLst>
                <a:tab algn="l" pos="0"/>
              </a:tabLst>
            </a:pPr>
            <a:r>
              <a:rPr b="1" lang="en-US" sz="2600" spc="13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LEO BOTELHO</a:t>
            </a:r>
            <a:endParaRPr b="0" lang="fr-CH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4"/>
          <p:cNvSpPr/>
          <p:nvPr/>
        </p:nvSpPr>
        <p:spPr>
          <a:xfrm>
            <a:off x="1942200" y="1500120"/>
            <a:ext cx="52092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05"/>
              </a:lnSpc>
              <a:tabLst>
                <a:tab algn="l" pos="0"/>
              </a:tabLst>
            </a:pPr>
            <a:r>
              <a:rPr b="1" lang="en-US" sz="1200" spc="119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BLOCKCHAIN PROTOCOL ARCHITECT &amp; QUANT DEV</a:t>
            </a:r>
            <a:endParaRPr b="0" lang="fr-CH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5"/>
          <p:cNvSpPr/>
          <p:nvPr/>
        </p:nvSpPr>
        <p:spPr>
          <a:xfrm>
            <a:off x="5441040" y="510480"/>
            <a:ext cx="171036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60"/>
              </a:lnSpc>
            </a:pPr>
            <a:r>
              <a:rPr b="1" lang="en-US" sz="900" spc="28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leobtlh@hotmail.com</a:t>
            </a:r>
            <a:endParaRPr b="0" lang="fr-CH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60"/>
              </a:lnSpc>
            </a:pPr>
            <a:r>
              <a:rPr b="1" lang="en-US" sz="900" spc="28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+41 78 302 50 85</a:t>
            </a:r>
            <a:endParaRPr b="0" lang="fr-CH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900" spc="28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Montreux, Switzerland</a:t>
            </a:r>
            <a:endParaRPr b="0" lang="fr-CH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6"/>
          <p:cNvSpPr/>
          <p:nvPr/>
        </p:nvSpPr>
        <p:spPr>
          <a:xfrm>
            <a:off x="407160" y="2144520"/>
            <a:ext cx="32234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300" spc="13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SUMMARY</a:t>
            </a:r>
            <a:endParaRPr b="0" lang="fr-CH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7"/>
          <p:cNvSpPr/>
          <p:nvPr/>
        </p:nvSpPr>
        <p:spPr>
          <a:xfrm>
            <a:off x="3364200" y="3736440"/>
            <a:ext cx="32234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300" spc="13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PROJECTS</a:t>
            </a:r>
            <a:endParaRPr b="0" lang="fr-CH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8"/>
          <p:cNvSpPr/>
          <p:nvPr/>
        </p:nvSpPr>
        <p:spPr>
          <a:xfrm>
            <a:off x="407160" y="2387160"/>
            <a:ext cx="674388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599"/>
              </a:lnSpc>
            </a:pPr>
            <a:r>
              <a:rPr b="0" lang="en-US" sz="1000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Now fully engaged in Mathematics studies, I am deepening my expertise in blockchain solutions and DeFi through the EPFL course FIN-413 and the Alyra certification (RS6675).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My goal is to apply this rigorous analytical framework to protocol design and on-chain economic modelling. I am seeking a 40% part-time position that allows me to contribute to innovative decentralized solutions while continuing my academic development.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9"/>
          <p:cNvSpPr/>
          <p:nvPr/>
        </p:nvSpPr>
        <p:spPr>
          <a:xfrm>
            <a:off x="3359160" y="3988440"/>
            <a:ext cx="30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00" spc="2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DEFI PROJECT LEAD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0"/>
          <p:cNvSpPr/>
          <p:nvPr/>
        </p:nvSpPr>
        <p:spPr>
          <a:xfrm>
            <a:off x="3359160" y="6280920"/>
            <a:ext cx="30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00" spc="2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RETHAGON - QUANT SYSTEM ARCHITECT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1"/>
          <p:cNvSpPr/>
          <p:nvPr/>
        </p:nvSpPr>
        <p:spPr>
          <a:xfrm>
            <a:off x="3364200" y="9174960"/>
            <a:ext cx="30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00" spc="2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PYTHON AND WEB DEVELOPER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2"/>
          <p:cNvSpPr/>
          <p:nvPr/>
        </p:nvSpPr>
        <p:spPr>
          <a:xfrm>
            <a:off x="3359160" y="4185720"/>
            <a:ext cx="30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00" spc="20" strike="noStrike" u="none">
                <a:solidFill>
                  <a:srgbClr val="1a1917"/>
                </a:solidFill>
                <a:effectLst/>
                <a:uFillTx/>
                <a:latin typeface="Raleway"/>
                <a:ea typeface="Raleway"/>
              </a:rPr>
              <a:t>Moeba Protocol, Lausanne | 2025 -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3"/>
          <p:cNvSpPr/>
          <p:nvPr/>
        </p:nvSpPr>
        <p:spPr>
          <a:xfrm>
            <a:off x="3359160" y="6477120"/>
            <a:ext cx="30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00" spc="20" strike="noStrike" u="none">
                <a:solidFill>
                  <a:srgbClr val="1a1917"/>
                </a:solidFill>
                <a:effectLst/>
                <a:uFillTx/>
                <a:latin typeface="Raleway"/>
                <a:ea typeface="Raleway"/>
              </a:rPr>
              <a:t>Alyra, Montreux | 20.09.2025 - 19.12.2025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4"/>
          <p:cNvSpPr/>
          <p:nvPr/>
        </p:nvSpPr>
        <p:spPr>
          <a:xfrm>
            <a:off x="3364200" y="9371160"/>
            <a:ext cx="306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00" spc="20" strike="noStrike" u="none">
                <a:solidFill>
                  <a:srgbClr val="1a1917"/>
                </a:solidFill>
                <a:effectLst/>
                <a:uFillTx/>
                <a:latin typeface="Raleway"/>
                <a:ea typeface="Raleway"/>
              </a:rPr>
              <a:t>Altux SA, Lutry | 2023 - 2026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5"/>
          <p:cNvSpPr/>
          <p:nvPr/>
        </p:nvSpPr>
        <p:spPr>
          <a:xfrm>
            <a:off x="3359160" y="4414320"/>
            <a:ext cx="3796920" cy="17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500"/>
              </a:lnSpc>
            </a:pPr>
            <a:r>
              <a:rPr b="0" lang="en-US" sz="1000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Moeba Protocol is a decentralized parametric insurance platform designed to democratize access to Catastrophe Bonds (Cat Bonds). Unlike traditional binary models, it utilizes a "Soft Default" waterfall mechanism to mitigate risk. The architecture segments capital into three layers: an Insurer First Loss buffer, a Junior Tranche (leveraged yield), and a Senior Tranche (capital protection with 70% base APR), making climate risk investment accessible to non-institutional liquidity.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Preview:</a:t>
            </a:r>
            <a:r>
              <a:rPr b="0" lang="en-US" sz="1000" strike="noStrike" u="none">
                <a:solidFill>
                  <a:srgbClr val="5e17eb"/>
                </a:solidFill>
                <a:effectLst/>
                <a:uFillTx/>
                <a:latin typeface="Raleway Medium"/>
                <a:ea typeface="Raleway Medium"/>
              </a:rPr>
              <a:t> https://moeba-protocol.vercel.app/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6"/>
          <p:cNvSpPr/>
          <p:nvPr/>
        </p:nvSpPr>
        <p:spPr>
          <a:xfrm>
            <a:off x="3359160" y="6697080"/>
            <a:ext cx="379692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This project is an autonomous decentralized betting platform for rap battles, designed to ensure artist compensation (15% fee). The betting system features real-time dynamic odds based on ERC-1155 liquidity and stake simulation. Outcomes are secured by a meritocratic oracle using ELO-weighted Soulbound Tokens (SBTs). Governance relies on a veToken model backed by an economic dispute mechanism: the majority captures the minority's staked tokens, making fraud irrational and guaranteeing result integrity.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7"/>
          <p:cNvSpPr/>
          <p:nvPr/>
        </p:nvSpPr>
        <p:spPr>
          <a:xfrm>
            <a:off x="3364200" y="9592560"/>
            <a:ext cx="379692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500"/>
              </a:lnSpc>
            </a:pPr>
            <a:r>
              <a:rPr b="0" lang="en-US" sz="1000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Broad experience in IT, particularly in Python development for internal tools and automation. Background includes server maintenance, firewall configuration, and basic penetration testing.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8"/>
          <p:cNvSpPr/>
          <p:nvPr/>
        </p:nvSpPr>
        <p:spPr>
          <a:xfrm>
            <a:off x="407160" y="3736440"/>
            <a:ext cx="214308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300" spc="13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EDUCATION</a:t>
            </a:r>
            <a:endParaRPr b="0" lang="fr-CH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9"/>
          <p:cNvSpPr/>
          <p:nvPr/>
        </p:nvSpPr>
        <p:spPr>
          <a:xfrm>
            <a:off x="407160" y="3998160"/>
            <a:ext cx="24220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000" spc="2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UNIDISTANCE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0"/>
          <p:cNvSpPr/>
          <p:nvPr/>
        </p:nvSpPr>
        <p:spPr>
          <a:xfrm>
            <a:off x="407160" y="4649040"/>
            <a:ext cx="24220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000" spc="2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EPFL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1"/>
          <p:cNvSpPr/>
          <p:nvPr/>
        </p:nvSpPr>
        <p:spPr>
          <a:xfrm>
            <a:off x="407160" y="5295240"/>
            <a:ext cx="24220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000" spc="2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ALYRA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2"/>
          <p:cNvSpPr/>
          <p:nvPr/>
        </p:nvSpPr>
        <p:spPr>
          <a:xfrm>
            <a:off x="407160" y="4195080"/>
            <a:ext cx="24220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"/>
                <a:ea typeface="Raleway"/>
              </a:rPr>
              <a:t>Bachelor of Mathematics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3"/>
          <p:cNvSpPr/>
          <p:nvPr/>
        </p:nvSpPr>
        <p:spPr>
          <a:xfrm>
            <a:off x="407160" y="4842720"/>
            <a:ext cx="24220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"/>
                <a:ea typeface="Raleway"/>
              </a:rPr>
              <a:t>FIN-413 - Financial applications . . .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4"/>
          <p:cNvSpPr/>
          <p:nvPr/>
        </p:nvSpPr>
        <p:spPr>
          <a:xfrm>
            <a:off x="407160" y="5488920"/>
            <a:ext cx="24220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"/>
                <a:ea typeface="Raleway"/>
              </a:rPr>
              <a:t>RS6675 - Leveraging DeFi in dApps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5"/>
          <p:cNvSpPr/>
          <p:nvPr/>
        </p:nvSpPr>
        <p:spPr>
          <a:xfrm>
            <a:off x="407160" y="4388760"/>
            <a:ext cx="24220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2026 - 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6"/>
          <p:cNvSpPr/>
          <p:nvPr/>
        </p:nvSpPr>
        <p:spPr>
          <a:xfrm>
            <a:off x="407160" y="5034960"/>
            <a:ext cx="24220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2026 - 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7"/>
          <p:cNvSpPr/>
          <p:nvPr/>
        </p:nvSpPr>
        <p:spPr>
          <a:xfrm>
            <a:off x="407160" y="5682600"/>
            <a:ext cx="24220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20.09.2025 - 19.12.2025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8"/>
          <p:cNvSpPr/>
          <p:nvPr/>
        </p:nvSpPr>
        <p:spPr>
          <a:xfrm>
            <a:off x="407160" y="6781320"/>
            <a:ext cx="214308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300" spc="13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SKILLS</a:t>
            </a:r>
            <a:endParaRPr b="0" lang="fr-CH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9"/>
          <p:cNvSpPr/>
          <p:nvPr/>
        </p:nvSpPr>
        <p:spPr>
          <a:xfrm>
            <a:off x="407160" y="7053120"/>
            <a:ext cx="214308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51"/>
              </a:lnSpc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C language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1"/>
              </a:lnSpc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C++ language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1"/>
              </a:lnSpc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Python3 language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1"/>
              </a:lnSpc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UX development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0"/>
          <p:cNvSpPr/>
          <p:nvPr/>
        </p:nvSpPr>
        <p:spPr>
          <a:xfrm>
            <a:off x="397440" y="8126280"/>
            <a:ext cx="242208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51"/>
              </a:lnSpc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French : native language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1"/>
              </a:lnSpc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English : professional level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1"/>
              </a:lnSpc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Portugese : professional level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1"/>
              </a:lnSpc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German : professional level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1"/>
          <p:cNvSpPr/>
          <p:nvPr/>
        </p:nvSpPr>
        <p:spPr>
          <a:xfrm>
            <a:off x="397440" y="7941960"/>
            <a:ext cx="21430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000" spc="2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SPOKEN LANGUAGES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42"/>
          <p:cNvSpPr/>
          <p:nvPr/>
        </p:nvSpPr>
        <p:spPr>
          <a:xfrm>
            <a:off x="407160" y="9236160"/>
            <a:ext cx="25358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300" spc="13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EXPERTISE</a:t>
            </a:r>
            <a:endParaRPr b="0" lang="fr-CH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3"/>
          <p:cNvSpPr/>
          <p:nvPr/>
        </p:nvSpPr>
        <p:spPr>
          <a:xfrm>
            <a:off x="230040" y="9414360"/>
            <a:ext cx="2669400" cy="10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216000" indent="-108000" defTabSz="914400">
              <a:lnSpc>
                <a:spcPts val="1701"/>
              </a:lnSpc>
              <a:buClr>
                <a:srgbClr val="07113c"/>
              </a:buClr>
              <a:buFont typeface="Arial"/>
              <a:buChar char="•"/>
            </a:pPr>
            <a:r>
              <a:rPr b="1" lang="en-US" sz="1000" strike="noStrike" u="none">
                <a:solidFill>
                  <a:srgbClr val="07113c"/>
                </a:solidFill>
                <a:effectLst/>
                <a:uFillTx/>
                <a:latin typeface="Raleway Medium"/>
                <a:ea typeface="Raleway Medium"/>
              </a:rPr>
              <a:t>Decentralized Finance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16000" indent="-108000" defTabSz="914400">
              <a:lnSpc>
                <a:spcPts val="1701"/>
              </a:lnSpc>
              <a:buClr>
                <a:srgbClr val="07113c"/>
              </a:buClr>
              <a:buFont typeface="Arial"/>
              <a:buChar char="•"/>
            </a:pPr>
            <a:r>
              <a:rPr b="1" lang="en-US" sz="1000" strike="noStrike" u="none">
                <a:solidFill>
                  <a:srgbClr val="07113c"/>
                </a:solidFill>
                <a:effectLst/>
                <a:uFillTx/>
                <a:latin typeface="Raleway Medium"/>
                <a:ea typeface="Raleway Medium"/>
              </a:rPr>
              <a:t>Quantitative Development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16000" indent="-108000" defTabSz="914400">
              <a:lnSpc>
                <a:spcPts val="1701"/>
              </a:lnSpc>
              <a:buClr>
                <a:srgbClr val="07113c"/>
              </a:buClr>
              <a:buFont typeface="Arial"/>
              <a:buChar char="•"/>
            </a:pPr>
            <a:r>
              <a:rPr b="1" lang="en-US" sz="1000" strike="noStrike" u="none">
                <a:solidFill>
                  <a:srgbClr val="07113c"/>
                </a:solidFill>
                <a:effectLst/>
                <a:uFillTx/>
                <a:latin typeface="Raleway Medium"/>
                <a:ea typeface="Raleway Medium"/>
              </a:rPr>
              <a:t>Protocol Architecture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16000" indent="-108000" defTabSz="914400">
              <a:lnSpc>
                <a:spcPts val="1701"/>
              </a:lnSpc>
              <a:buClr>
                <a:srgbClr val="07113c"/>
              </a:buClr>
              <a:buFont typeface="Arial"/>
              <a:buChar char="•"/>
            </a:pPr>
            <a:r>
              <a:rPr b="1" lang="en-US" sz="1000" strike="noStrike" u="none">
                <a:solidFill>
                  <a:srgbClr val="07113c"/>
                </a:solidFill>
                <a:effectLst/>
                <a:uFillTx/>
                <a:latin typeface="Raleway Medium"/>
                <a:ea typeface="Raleway Medium"/>
              </a:rPr>
              <a:t>Algorithmic Design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16000" indent="-108000" defTabSz="914400">
              <a:lnSpc>
                <a:spcPts val="1701"/>
              </a:lnSpc>
              <a:buClr>
                <a:srgbClr val="07113c"/>
              </a:buClr>
              <a:buFont typeface="Arial"/>
              <a:buChar char="•"/>
            </a:pPr>
            <a:r>
              <a:rPr b="1" lang="en-US" sz="1000" strike="noStrike" u="none">
                <a:solidFill>
                  <a:srgbClr val="07113c"/>
                </a:solidFill>
                <a:effectLst/>
                <a:uFillTx/>
                <a:latin typeface="Raleway Medium"/>
                <a:ea typeface="Raleway Medium"/>
              </a:rPr>
              <a:t>DeFi Strategies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44"/>
          <p:cNvSpPr/>
          <p:nvPr/>
        </p:nvSpPr>
        <p:spPr>
          <a:xfrm>
            <a:off x="407160" y="5942880"/>
            <a:ext cx="24220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1000" spc="2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HEIG-VD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45"/>
          <p:cNvSpPr/>
          <p:nvPr/>
        </p:nvSpPr>
        <p:spPr>
          <a:xfrm>
            <a:off x="407160" y="6136560"/>
            <a:ext cx="24220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"/>
                <a:ea typeface="Raleway"/>
              </a:rPr>
              <a:t>Computer Science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46"/>
          <p:cNvSpPr/>
          <p:nvPr/>
        </p:nvSpPr>
        <p:spPr>
          <a:xfrm>
            <a:off x="407160" y="6330240"/>
            <a:ext cx="24220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00" spc="51" strike="noStrike" u="none">
                <a:solidFill>
                  <a:srgbClr val="1a1917"/>
                </a:solidFill>
                <a:effectLst/>
                <a:uFillTx/>
                <a:latin typeface="Raleway Medium"/>
                <a:ea typeface="Raleway Medium"/>
              </a:rPr>
              <a:t>2024 - 2026</a:t>
            </a:r>
            <a:endParaRPr b="0" lang="fr-CH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7"/>
          <p:cNvSpPr/>
          <p:nvPr/>
        </p:nvSpPr>
        <p:spPr>
          <a:xfrm>
            <a:off x="3364200" y="8901000"/>
            <a:ext cx="32234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1300" spc="130" strike="noStrike" u="none">
                <a:solidFill>
                  <a:srgbClr val="1a1917"/>
                </a:solidFill>
                <a:effectLst/>
                <a:uFillTx/>
                <a:latin typeface="Raleway Bold"/>
                <a:ea typeface="Raleway Bold"/>
              </a:rPr>
              <a:t>EXPERIENCE</a:t>
            </a:r>
            <a:endParaRPr b="0" lang="fr-CH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DAG_N1RM8G0</dc:identifier>
  <dc:language>fr-CH</dc:language>
  <cp:lastModifiedBy/>
  <dcterms:modified xsi:type="dcterms:W3CDTF">2026-01-23T10:46:59Z</dcterms:modified>
  <cp:revision>7</cp:revision>
  <dc:subject/>
  <dc:title>CV Français Professionnel Simple Noir et Blanc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